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7" r:id="rId4"/>
    <p:sldId id="258" r:id="rId5"/>
    <p:sldId id="260" r:id="rId6"/>
    <p:sldId id="262" r:id="rId7"/>
    <p:sldId id="263" r:id="rId8"/>
    <p:sldId id="264" r:id="rId9"/>
    <p:sldId id="259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 autoAdjust="0"/>
  </p:normalViewPr>
  <p:slideViewPr>
    <p:cSldViewPr snapToGrid="0">
      <p:cViewPr varScale="1">
        <p:scale>
          <a:sx n="103" d="100"/>
          <a:sy n="103" d="100"/>
        </p:scale>
        <p:origin x="120" y="5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6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E86A0-1019-4C26-B681-F0B34216D187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FD7B2-A7ED-4FF6-BFED-42EF495E1C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8132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2393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815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AACB-A4F1-347D-A1AF-150187FD2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FBF59F-D84E-AAA0-6A33-05C94B7D6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A5F58-86D3-2B49-359B-B9AB0C3D0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8FF3A-BE05-0830-F240-3A8C41459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FFD7B2-A7ED-4FF6-BFED-42EF495E1CA7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5308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101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501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599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920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941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1176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33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540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163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290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409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EE6EA10A-9417-43D9-A9C3-B057EA8B1B48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65CF2A5-35EA-4C15-81BA-2B7046A61B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7597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CAB08-9F27-A8DE-C00A-96E0C1F9A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o-RO" noProof="1"/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538D58-DC4D-AA61-3C9E-2E166CCC6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 noProof="1"/>
              <a:t>Prezentat de Felea Dorin-Andrei și Roland Kirch, Anul II, Semestrul I, Informatică</a:t>
            </a:r>
            <a:br>
              <a:rPr lang="ro-RO" noProof="1"/>
            </a:br>
            <a:r>
              <a:rPr lang="ro-RO" noProof="1"/>
              <a:t>Universitatea de Știinte Exacte “Aurel Vlaicu” Arad</a:t>
            </a:r>
          </a:p>
        </p:txBody>
      </p:sp>
    </p:spTree>
    <p:extLst>
      <p:ext uri="{BB962C8B-B14F-4D97-AF65-F5344CB8AC3E}">
        <p14:creationId xmlns:p14="http://schemas.microsoft.com/office/powerpoint/2010/main" val="4271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B180C-5FDB-4FE6-300A-C66A603D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4335-6D0A-304E-C88B-612046185E1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C638D2-BC04-F379-06CD-D859F81C572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17114-D0D1-E203-F5D8-3541DEF982B3}"/>
              </a:ext>
            </a:extLst>
          </p:cNvPr>
          <p:cNvSpPr txBox="1"/>
          <p:nvPr/>
        </p:nvSpPr>
        <p:spPr>
          <a:xfrm>
            <a:off x="328613" y="183505"/>
            <a:ext cx="1731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400" noProof="1"/>
              <a:t>Introducere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6646EF-7DD4-F23F-A8DF-D9B9815BFEEC}"/>
              </a:ext>
            </a:extLst>
          </p:cNvPr>
          <p:cNvSpPr txBox="1"/>
          <p:nvPr/>
        </p:nvSpPr>
        <p:spPr>
          <a:xfrm>
            <a:off x="328613" y="936625"/>
            <a:ext cx="11534774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2400" b="1"/>
              <a:t>Scop</a:t>
            </a:r>
          </a:p>
          <a:p>
            <a:pPr algn="just"/>
            <a:r>
              <a:rPr lang="en-GB"/>
              <a:t>Aplicație Java (JavaFX) pentru înregistrarea prezențelor la curs/laborator, cu confirmare printr-un quiz scurt</a:t>
            </a:r>
            <a:r>
              <a:rPr lang="ro-RO"/>
              <a:t> legat de materia selectată</a:t>
            </a:r>
            <a:r>
              <a:rPr lang="en-GB"/>
              <a:t>, folosit </a:t>
            </a:r>
            <a:r>
              <a:rPr lang="ro-RO"/>
              <a:t>similar precum un</a:t>
            </a:r>
            <a:r>
              <a:rPr lang="en-GB"/>
              <a:t> mecanism de tip Captcha (prezența se salvează doar după </a:t>
            </a:r>
            <a:r>
              <a:rPr lang="ro-RO"/>
              <a:t>un </a:t>
            </a:r>
            <a:r>
              <a:rPr lang="en-GB"/>
              <a:t>răspuns corect).</a:t>
            </a:r>
          </a:p>
          <a:p>
            <a:pPr algn="just"/>
            <a:endParaRPr lang="en-GB"/>
          </a:p>
          <a:p>
            <a:pPr algn="just"/>
            <a:r>
              <a:rPr lang="en-GB" sz="2400" b="1"/>
              <a:t>De ce această temă</a:t>
            </a:r>
          </a:p>
          <a:p>
            <a:pPr algn="just"/>
            <a:r>
              <a:rPr lang="en-GB"/>
              <a:t>Prezint</a:t>
            </a:r>
            <a:r>
              <a:rPr lang="ro-RO"/>
              <a:t>ă</a:t>
            </a:r>
            <a:r>
              <a:rPr lang="en-GB"/>
              <a:t> </a:t>
            </a:r>
            <a:r>
              <a:rPr lang="ro-RO"/>
              <a:t>o idee prin care se poate realiza</a:t>
            </a:r>
            <a:r>
              <a:rPr lang="en-GB"/>
              <a:t> digitalizarea felului </a:t>
            </a:r>
            <a:r>
              <a:rPr lang="ro-RO"/>
              <a:t>î</a:t>
            </a:r>
            <a:r>
              <a:rPr lang="en-GB"/>
              <a:t>n care se trec prezen</a:t>
            </a:r>
            <a:r>
              <a:rPr lang="ro-RO"/>
              <a:t>ț</a:t>
            </a:r>
            <a:r>
              <a:rPr lang="en-GB"/>
              <a:t>ele, are date persistente </a:t>
            </a:r>
            <a:r>
              <a:rPr lang="ro-RO"/>
              <a:t>în format </a:t>
            </a:r>
            <a:r>
              <a:rPr lang="en-GB"/>
              <a:t>CSV și permite demonstrarea conceptelor </a:t>
            </a:r>
            <a:r>
              <a:rPr lang="ro-RO"/>
              <a:t>programării orientate pe obiecte</a:t>
            </a:r>
            <a:r>
              <a:rPr lang="en-GB"/>
              <a:t> (clase, încapsulare, moștenire, polimorfism, excepții).</a:t>
            </a:r>
            <a:endParaRPr lang="ro-RO"/>
          </a:p>
          <a:p>
            <a:pPr algn="just"/>
            <a:endParaRPr lang="ro-RO"/>
          </a:p>
          <a:p>
            <a:pPr algn="just"/>
            <a:r>
              <a:rPr lang="en-GB" sz="2400" b="1"/>
              <a:t>Ideea</a:t>
            </a:r>
            <a:endParaRPr lang="ro-RO" sz="2400" b="1"/>
          </a:p>
          <a:p>
            <a:pPr algn="just"/>
            <a:r>
              <a:rPr lang="ro-RO"/>
              <a:t>P</a:t>
            </a:r>
            <a:r>
              <a:rPr lang="en-GB"/>
              <a:t>rezența se marchează doar după o acțiune de confirmare umană (răspuns corect). Dacă răspunsul este greșit, se schimbă întrebarea, astfel încât nu se poate „ghici” repetitiv aceeași opțiune.</a:t>
            </a:r>
            <a:endParaRPr lang="ro-RO"/>
          </a:p>
          <a:p>
            <a:pPr algn="just"/>
            <a:endParaRPr lang="en-GB"/>
          </a:p>
          <a:p>
            <a:pPr algn="just"/>
            <a:r>
              <a:rPr lang="en-GB" sz="2400" b="1"/>
              <a:t>Implementare</a:t>
            </a:r>
            <a:endParaRPr lang="ro-RO" sz="2400" b="1"/>
          </a:p>
          <a:p>
            <a:pPr algn="just"/>
            <a:r>
              <a:rPr lang="en-GB"/>
              <a:t>QuizManager păstrează o listă de Question; selectează random o întrebare; la checkAnswer(): dacă e corect → finished=true; altfel selectează o altă întrebare.</a:t>
            </a:r>
          </a:p>
        </p:txBody>
      </p:sp>
    </p:spTree>
    <p:extLst>
      <p:ext uri="{BB962C8B-B14F-4D97-AF65-F5344CB8AC3E}">
        <p14:creationId xmlns:p14="http://schemas.microsoft.com/office/powerpoint/2010/main" val="459583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C9-2433-C070-B9FF-BC587B7A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CCE5B-8974-9F5C-89D1-92E7E74856B9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63D16-3DCF-CA06-75DA-4CF22CE2CCB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CBE4B-450B-052B-AD7D-91A012F06B19}"/>
              </a:ext>
            </a:extLst>
          </p:cNvPr>
          <p:cNvSpPr txBox="1"/>
          <p:nvPr/>
        </p:nvSpPr>
        <p:spPr>
          <a:xfrm>
            <a:off x="328613" y="183505"/>
            <a:ext cx="21151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5E2F36-0F66-B218-E1AC-F90CEBE08E22}"/>
              </a:ext>
            </a:extLst>
          </p:cNvPr>
          <p:cNvSpPr txBox="1"/>
          <p:nvPr/>
        </p:nvSpPr>
        <p:spPr>
          <a:xfrm>
            <a:off x="285659" y="1117565"/>
            <a:ext cx="11620682" cy="4622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en-US"/>
              <a:t>Structur</a:t>
            </a:r>
            <a:r>
              <a:rPr lang="ro-RO"/>
              <a:t>a proiectului</a:t>
            </a:r>
            <a:r>
              <a:rPr lang="en-US"/>
              <a:t> pe clase</a:t>
            </a:r>
            <a:r>
              <a:rPr lang="ro-RO"/>
              <a:t>: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PrezentUIApp</a:t>
            </a:r>
            <a:r>
              <a:rPr lang="en-US"/>
              <a:t> – punct de intrare JavaFX; încarcă FXML și deschide scenele.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PrezentUIController</a:t>
            </a:r>
            <a:r>
              <a:rPr lang="en-US"/>
              <a:t> – controller-ul ecranului principal (introducere prezență, vizualizare, autentificare admin).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PrezenteTabelController</a:t>
            </a:r>
            <a:r>
              <a:rPr lang="en-US"/>
              <a:t> – controller pentru tabela de prezențe; în modul admin afișează controale suplimentare.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Person</a:t>
            </a:r>
            <a:r>
              <a:rPr lang="en-US"/>
              <a:t> – model de date pentru o înregistrare (date, nume, materie, status curs/lab).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QuizController</a:t>
            </a:r>
            <a:r>
              <a:rPr lang="en-US"/>
              <a:t> – UI pentru quiz (fereastră modală).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QuizManager</a:t>
            </a:r>
            <a:r>
              <a:rPr lang="en-US"/>
              <a:t> – logica quiz-ului (întrebări, selecție random, validare răspuns).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Question</a:t>
            </a:r>
            <a:r>
              <a:rPr lang="en-US"/>
              <a:t> – model pentru o întrebare (text, opțiuni, răspuns corect).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Launcher</a:t>
            </a:r>
            <a:r>
              <a:rPr lang="en-US"/>
              <a:t> – pornește aplicația și păstrează un flag global viewAdminTable.</a:t>
            </a:r>
            <a:endParaRPr lang="en-GB"/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Persistență</a:t>
            </a:r>
            <a:r>
              <a:rPr lang="en-US"/>
              <a:t>: prezențele se salvează în fișierul data.csv (append).</a:t>
            </a:r>
            <a:endParaRPr lang="en-GB"/>
          </a:p>
          <a:p>
            <a:pPr algn="just">
              <a:lnSpc>
                <a:spcPct val="150000"/>
              </a:lnSpc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82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7BB50-015A-5C4A-75D6-D8AA6465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0377-E09C-43DE-1CA9-C6F7BF1E779B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423B85-BB4C-02B7-EB4E-2718504EB0F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C77A88-F8DA-1864-AC6F-6D74B5170F82}"/>
              </a:ext>
            </a:extLst>
          </p:cNvPr>
          <p:cNvSpPr txBox="1"/>
          <p:nvPr/>
        </p:nvSpPr>
        <p:spPr>
          <a:xfrm>
            <a:off x="328613" y="183505"/>
            <a:ext cx="2115131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1. </a:t>
            </a:r>
            <a:r>
              <a:rPr lang="ro-RO" sz="1400" noProof="1"/>
              <a:t>Î</a:t>
            </a:r>
            <a:r>
              <a:rPr lang="en-GB" sz="1400" noProof="1"/>
              <a:t>nc</a:t>
            </a:r>
            <a:r>
              <a:rPr lang="ro-RO" sz="1400" noProof="1"/>
              <a:t>a</a:t>
            </a:r>
            <a:r>
              <a:rPr lang="en-GB" sz="1400" noProof="1"/>
              <a:t>psulare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2CC84-B99F-4644-F7C9-282E714DF204}"/>
              </a:ext>
            </a:extLst>
          </p:cNvPr>
          <p:cNvSpPr txBox="1"/>
          <p:nvPr/>
        </p:nvSpPr>
        <p:spPr>
          <a:xfrm>
            <a:off x="328613" y="936625"/>
            <a:ext cx="11534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Înregistrarea de prezență este modelată ca obiect; câmpurile sunt private și accesate prin metode publice (getter), ceea ce ascunde starea internă: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7552BD-15B4-58BA-601F-ED029AC3489F}"/>
              </a:ext>
            </a:extLst>
          </p:cNvPr>
          <p:cNvSpPr txBox="1"/>
          <p:nvPr/>
        </p:nvSpPr>
        <p:spPr>
          <a:xfrm>
            <a:off x="1687975" y="1658968"/>
            <a:ext cx="8816049" cy="2303131"/>
          </a:xfrm>
          <a:prstGeom prst="rect">
            <a:avLst/>
          </a:prstGeom>
          <a:noFill/>
          <a:ln cap="flat" cmpd="sng">
            <a:noFill/>
            <a:prstDash val="sysDot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class Person {</a:t>
            </a: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private SimpleStringProperty name;</a:t>
            </a: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private SimpleStringProperty materie;</a:t>
            </a: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String </a:t>
            </a:r>
            <a:r>
              <a:rPr lang="en-US" sz="1800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getName() </a:t>
            </a: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 return name.get(); }</a:t>
            </a: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SimpleStringProperty </a:t>
            </a:r>
            <a:r>
              <a:rPr lang="en-US" sz="1800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nameProperty()</a:t>
            </a:r>
            <a:r>
              <a:rPr lang="en-US" sz="1800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 return name; }</a:t>
            </a:r>
            <a:b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en-GB" sz="280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7858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3A70F-6389-4D11-8770-53052AEAF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8332F-C948-3533-42B2-35E3B4F7184A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11724-1C43-881E-3765-244BD09E8CA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B57354-E61B-843D-6618-EBA31FC338B2}"/>
              </a:ext>
            </a:extLst>
          </p:cNvPr>
          <p:cNvSpPr txBox="1"/>
          <p:nvPr/>
        </p:nvSpPr>
        <p:spPr>
          <a:xfrm>
            <a:off x="328613" y="183505"/>
            <a:ext cx="2319609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2. Moștenire </a:t>
            </a:r>
            <a:r>
              <a:rPr lang="ro-RO" sz="1400" noProof="1"/>
              <a:t>și</a:t>
            </a:r>
            <a:r>
              <a:rPr lang="en-GB" sz="1400" noProof="1"/>
              <a:t> Polimorfism 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AF472-3F15-BE13-8C64-8E6A91F67320}"/>
              </a:ext>
            </a:extLst>
          </p:cNvPr>
          <p:cNvSpPr txBox="1"/>
          <p:nvPr/>
        </p:nvSpPr>
        <p:spPr>
          <a:xfrm>
            <a:off x="328613" y="936625"/>
            <a:ext cx="1153477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Aplicația moștenește clasa JavaFX Application și suprascrie metoda </a:t>
            </a:r>
            <a:r>
              <a:rPr lang="en-GB" b="1">
                <a:latin typeface="Consolas" panose="020B0609020204030204" pitchFamily="49" charset="0"/>
              </a:rPr>
              <a:t>start(). </a:t>
            </a:r>
            <a:r>
              <a:rPr lang="en-GB"/>
              <a:t>Suprascrierea este un exemplu de polimorfism (același nume de metodă, comportament specific în subclasă):</a:t>
            </a:r>
            <a:endParaRPr lang="ro-RO"/>
          </a:p>
          <a:p>
            <a:pPr algn="just"/>
            <a:r>
              <a:rPr lang="ro-RO" sz="1400">
                <a:solidFill>
                  <a:schemeClr val="bg1">
                    <a:lumMod val="75000"/>
                  </a:schemeClr>
                </a:solidFill>
              </a:rPr>
              <a:t>Notă: funcția </a:t>
            </a:r>
            <a:r>
              <a:rPr lang="ro-RO" sz="140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rPr>
              <a:t>start(Stage stage)</a:t>
            </a:r>
            <a:r>
              <a:rPr lang="ro-RO" sz="1400">
                <a:solidFill>
                  <a:schemeClr val="bg1">
                    <a:lumMod val="75000"/>
                  </a:schemeClr>
                </a:solidFill>
              </a:rPr>
              <a:t> este o funcție prestabilită in JavaFX! </a:t>
            </a:r>
            <a:endParaRPr lang="en-GB" sz="14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EFE78F-8BCA-0F9D-DA57-9ED4312B6657}"/>
              </a:ext>
            </a:extLst>
          </p:cNvPr>
          <p:cNvSpPr txBox="1"/>
          <p:nvPr/>
        </p:nvSpPr>
        <p:spPr>
          <a:xfrm>
            <a:off x="1687975" y="1874411"/>
            <a:ext cx="8816049" cy="3964932"/>
          </a:xfrm>
          <a:prstGeom prst="rect">
            <a:avLst/>
          </a:prstGeom>
          <a:noFill/>
          <a:ln cap="flat" cmpd="sng">
            <a:noFill/>
            <a:prstDash val="sysDot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class PrezentUIApp 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extends Application 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@Override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public void start(Stage stage) throws IOException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FXMLLoader fxmlLoader = new FXMLLoader</a:t>
            </a:r>
            <a:r>
              <a:rPr lang="en-GB" b="1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PrezentUIApp.class.getResource("main-UI.fxml")</a:t>
            </a:r>
            <a:r>
              <a:rPr lang="en-GB" b="1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stage.setScene(new Scene(fxmlLoader.load(), 640, 240));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stage.show();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63121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02663-4E5E-21C1-1B4F-94DC77AF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7FEA3-6057-D177-0F92-376942958900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B9AF7D-473F-8647-C493-AEE071B8F3F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57452-935D-C5CF-B2DE-17C897D0C177}"/>
              </a:ext>
            </a:extLst>
          </p:cNvPr>
          <p:cNvSpPr txBox="1"/>
          <p:nvPr/>
        </p:nvSpPr>
        <p:spPr>
          <a:xfrm>
            <a:off x="328613" y="183505"/>
            <a:ext cx="528061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3. Polimorfism prin interfețe (Runnable callback în QuizController)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7CF75C-010D-7A92-2F7A-950998E2FC99}"/>
              </a:ext>
            </a:extLst>
          </p:cNvPr>
          <p:cNvSpPr txBox="1"/>
          <p:nvPr/>
        </p:nvSpPr>
        <p:spPr>
          <a:xfrm>
            <a:off x="328613" y="936625"/>
            <a:ext cx="11534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Confirmarea prezenței este declanșată printr-un callback de tip Runnable. </a:t>
            </a:r>
            <a:r>
              <a:rPr lang="en-GB">
                <a:latin typeface="Consolas" panose="020B0609020204030204" pitchFamily="49" charset="0"/>
              </a:rPr>
              <a:t>QuizController</a:t>
            </a:r>
            <a:r>
              <a:rPr lang="en-GB"/>
              <a:t> nu „știe” ce face aplicația după validare; primește un comportament (</a:t>
            </a:r>
            <a:r>
              <a:rPr lang="ro-RO"/>
              <a:t>o funcție/metodă</a:t>
            </a:r>
            <a:r>
              <a:rPr lang="en-GB"/>
              <a:t>) și îl execută. Acest lucru decuplează </a:t>
            </a:r>
            <a:r>
              <a:rPr lang="ro-RO"/>
              <a:t>interfața </a:t>
            </a:r>
            <a:r>
              <a:rPr lang="en-GB"/>
              <a:t>quizului de logica de salvare a prezenței: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F2D21-7254-CBD7-E2CE-93ACC4FD4AEA}"/>
              </a:ext>
            </a:extLst>
          </p:cNvPr>
          <p:cNvSpPr txBox="1"/>
          <p:nvPr/>
        </p:nvSpPr>
        <p:spPr>
          <a:xfrm>
            <a:off x="1687975" y="1935967"/>
            <a:ext cx="8816049" cy="2624565"/>
          </a:xfrm>
          <a:prstGeom prst="rect">
            <a:avLst/>
          </a:prstGeom>
          <a:noFill/>
          <a:ln cap="flat" cmpd="sng">
            <a:noFill/>
            <a:prstDash val="lgDash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public void showQuiz(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Runnable onQuizCompleted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this.onQuizCompleted = onQuizCompleted;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...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...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 (onQuizCompleted != null) 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onQuizCompleted.run();</a:t>
            </a:r>
          </a:p>
        </p:txBody>
      </p:sp>
    </p:spTree>
    <p:extLst>
      <p:ext uri="{BB962C8B-B14F-4D97-AF65-F5344CB8AC3E}">
        <p14:creationId xmlns:p14="http://schemas.microsoft.com/office/powerpoint/2010/main" val="252748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8854-5097-C952-F49D-40E99600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B3BE-8E7C-2B8B-C7DF-4E5C8D5C8578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BC2747-3A69-D0FE-EC48-7F68CD06B11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765686-A12A-16C0-5D17-72D384243BBB}"/>
              </a:ext>
            </a:extLst>
          </p:cNvPr>
          <p:cNvSpPr txBox="1"/>
          <p:nvPr/>
        </p:nvSpPr>
        <p:spPr>
          <a:xfrm>
            <a:off x="328613" y="183505"/>
            <a:ext cx="2641044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4. </a:t>
            </a:r>
            <a:r>
              <a:rPr lang="pt-BR" sz="1400" noProof="1"/>
              <a:t>Tratarea excepțiilor (I/O fișier)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AD75A-94F7-7744-579B-897691CC654E}"/>
              </a:ext>
            </a:extLst>
          </p:cNvPr>
          <p:cNvSpPr txBox="1"/>
          <p:nvPr/>
        </p:nvSpPr>
        <p:spPr>
          <a:xfrm>
            <a:off x="328613" y="936625"/>
            <a:ext cx="11534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/>
              <a:t>La salvare se folosesc blocuri </a:t>
            </a:r>
            <a:r>
              <a:rPr lang="ro-RO">
                <a:latin typeface="Consolas" panose="020B0609020204030204" pitchFamily="49" charset="0"/>
              </a:rPr>
              <a:t>try</a:t>
            </a:r>
            <a:r>
              <a:rPr lang="ro-RO"/>
              <a:t>-</a:t>
            </a:r>
            <a:r>
              <a:rPr lang="ro-RO">
                <a:latin typeface="Consolas" panose="020B0609020204030204" pitchFamily="49" charset="0"/>
              </a:rPr>
              <a:t>catch</a:t>
            </a:r>
            <a:r>
              <a:rPr lang="en-GB"/>
              <a:t> + tratare erori (I</a:t>
            </a:r>
            <a:r>
              <a:rPr lang="ro-RO"/>
              <a:t>nput</a:t>
            </a:r>
            <a:r>
              <a:rPr lang="en-GB"/>
              <a:t>/O</a:t>
            </a:r>
            <a:r>
              <a:rPr lang="ro-RO"/>
              <a:t>utput</a:t>
            </a:r>
            <a:r>
              <a:rPr lang="en-GB"/>
              <a:t>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87F992-A61E-9760-D5C4-C0FE1548B43B}"/>
              </a:ext>
            </a:extLst>
          </p:cNvPr>
          <p:cNvSpPr txBox="1"/>
          <p:nvPr/>
        </p:nvSpPr>
        <p:spPr>
          <a:xfrm>
            <a:off x="1687975" y="1381969"/>
            <a:ext cx="8816049" cy="2624565"/>
          </a:xfrm>
          <a:prstGeom prst="rect">
            <a:avLst/>
          </a:prstGeom>
          <a:noFill/>
          <a:ln cap="flat" cmpd="sng">
            <a:noFill/>
            <a:prstDash val="lgDash"/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try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(BufferedWriter writer =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Files.newBufferedWriter(Paths.get("data.csv"),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      StandardOpenOption.CREATE, StandardOpenOption.APPEND)) {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writer.write(line);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writer.newLine();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 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catch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GB" b="1">
                <a:solidFill>
                  <a:schemeClr val="tx1"/>
                </a:solidFill>
                <a:effectLst/>
                <a:highlight>
                  <a:srgbClr val="8080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IOException</a:t>
            </a:r>
            <a:r>
              <a:rPr lang="en-GB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e) { e.printStackTrace(); }</a:t>
            </a:r>
          </a:p>
        </p:txBody>
      </p:sp>
    </p:spTree>
    <p:extLst>
      <p:ext uri="{BB962C8B-B14F-4D97-AF65-F5344CB8AC3E}">
        <p14:creationId xmlns:p14="http://schemas.microsoft.com/office/powerpoint/2010/main" val="1702600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9DD-B572-ECBC-B138-A648A1BC7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3783-FF05-F153-F116-F88D42FFB077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817B3-D55C-DAA6-B629-F8DD28B6AE8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DF0BE9-4407-27AE-291C-0E1AA9F23070}"/>
              </a:ext>
            </a:extLst>
          </p:cNvPr>
          <p:cNvSpPr txBox="1"/>
          <p:nvPr/>
        </p:nvSpPr>
        <p:spPr>
          <a:xfrm>
            <a:off x="328613" y="183505"/>
            <a:ext cx="3560911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Structura POO</a:t>
            </a:r>
          </a:p>
          <a:p>
            <a:r>
              <a:rPr lang="en-GB" sz="1400" noProof="1"/>
              <a:t>Diagrama UML (Unified Modeling Language)</a:t>
            </a:r>
            <a:endParaRPr lang="ro-RO" sz="14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FF675D-CE3F-F634-219B-D91BB927A4B2}"/>
              </a:ext>
            </a:extLst>
          </p:cNvPr>
          <p:cNvSpPr txBox="1"/>
          <p:nvPr/>
        </p:nvSpPr>
        <p:spPr>
          <a:xfrm>
            <a:off x="328613" y="6305163"/>
            <a:ext cx="11534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/>
              <a:t>O prezentare grafic</a:t>
            </a:r>
            <a:r>
              <a:rPr lang="ro-RO"/>
              <a:t>ă</a:t>
            </a:r>
            <a:r>
              <a:rPr lang="en-GB"/>
              <a:t> </a:t>
            </a:r>
            <a:r>
              <a:rPr lang="ro-RO"/>
              <a:t>ș</a:t>
            </a:r>
            <a:r>
              <a:rPr lang="en-GB"/>
              <a:t>i simplificat</a:t>
            </a:r>
            <a:r>
              <a:rPr lang="ro-RO"/>
              <a:t>ă</a:t>
            </a:r>
            <a:r>
              <a:rPr lang="en-GB"/>
              <a:t> a programului, pe clase</a:t>
            </a:r>
            <a:r>
              <a:rPr lang="ro-RO"/>
              <a:t>.</a:t>
            </a:r>
            <a:endParaRPr lang="en-GB"/>
          </a:p>
        </p:txBody>
      </p:sp>
      <p:pic>
        <p:nvPicPr>
          <p:cNvPr id="11" name="Picture 10" descr="A diagram of a computer&#10;&#10;AI-generated content may be incorrect.">
            <a:extLst>
              <a:ext uri="{FF2B5EF4-FFF2-40B4-BE49-F238E27FC236}">
                <a16:creationId xmlns:a16="http://schemas.microsoft.com/office/drawing/2014/main" id="{DEB69D75-BBC7-0D16-C2A3-625780BB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686" y="965269"/>
            <a:ext cx="6674628" cy="530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203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67CA-FF93-720A-5423-A84B8876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A37A6-889D-B275-7862-9C9DBE9DB5B3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6424613" y="239713"/>
            <a:ext cx="5767387" cy="349250"/>
          </a:xfrm>
        </p:spPr>
        <p:txBody>
          <a:bodyPr>
            <a:normAutofit/>
          </a:bodyPr>
          <a:lstStyle/>
          <a:p>
            <a:pPr algn="r"/>
            <a:r>
              <a:rPr lang="ro-RO" sz="16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Sistem gestionare prezențe cu validare prin Quiz (tip Captcha)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4D10D4-C401-4A9F-D4F2-B4777C55C6C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424613" y="588963"/>
            <a:ext cx="5767387" cy="34766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Prezentat de Felea Dorin-Andrei și Roland Kirch, Anul II, Semestrul I, Informatică</a:t>
            </a:r>
            <a:b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</a:br>
            <a:r>
              <a:rPr lang="ro-RO" sz="1000" noProof="1">
                <a:solidFill>
                  <a:schemeClr val="bg1">
                    <a:lumMod val="50000"/>
                    <a:lumOff val="50000"/>
                  </a:schemeClr>
                </a:solidFill>
              </a:rPr>
              <a:t>Universitatea de Știinte Exacte “Aurel Vlaicu” Arad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834274-5635-45FF-8083-799A20E06010}"/>
              </a:ext>
            </a:extLst>
          </p:cNvPr>
          <p:cNvSpPr txBox="1"/>
          <p:nvPr/>
        </p:nvSpPr>
        <p:spPr>
          <a:xfrm>
            <a:off x="328613" y="183505"/>
            <a:ext cx="546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noProof="1"/>
              <a:t>Dificultăți</a:t>
            </a:r>
            <a:r>
              <a:rPr lang="ro-RO" sz="2400" noProof="1"/>
              <a:t>, </a:t>
            </a:r>
            <a:r>
              <a:rPr lang="en-GB" sz="2400" noProof="1"/>
              <a:t>soluții</a:t>
            </a:r>
            <a:r>
              <a:rPr lang="ro-RO" sz="2400" noProof="1"/>
              <a:t> și îmbunătățiri viitoare</a:t>
            </a:r>
            <a:endParaRPr lang="en-GB" sz="2400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362ED-3F8A-B1F0-C590-6D37118E4D88}"/>
              </a:ext>
            </a:extLst>
          </p:cNvPr>
          <p:cNvSpPr txBox="1"/>
          <p:nvPr/>
        </p:nvSpPr>
        <p:spPr>
          <a:xfrm>
            <a:off x="328613" y="994420"/>
            <a:ext cx="5767387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>
                <a:solidFill>
                  <a:schemeClr val="bg1">
                    <a:lumMod val="50000"/>
                    <a:lumOff val="50000"/>
                  </a:schemeClr>
                </a:solidFill>
              </a:rPr>
              <a:t>Dificultăți și soluții:</a:t>
            </a:r>
          </a:p>
          <a:p>
            <a:r>
              <a:rPr lang="en-GB" sz="2400" b="1"/>
              <a:t>1) Sincronizarea fluxului „quiz → salvare prezență”.</a:t>
            </a:r>
          </a:p>
          <a:p>
            <a:r>
              <a:rPr lang="en-GB" b="1"/>
              <a:t>Soluție: </a:t>
            </a:r>
            <a:r>
              <a:rPr lang="en-GB"/>
              <a:t>fereastră modală + callback Runnable (executat doar la răspuns corect).</a:t>
            </a:r>
            <a:endParaRPr lang="ro-RO"/>
          </a:p>
          <a:p>
            <a:endParaRPr lang="en-GB"/>
          </a:p>
          <a:p>
            <a:r>
              <a:rPr lang="en-GB" sz="2400" b="1"/>
              <a:t>2) Persistența simplă a datelor fără bază de date.</a:t>
            </a:r>
          </a:p>
          <a:p>
            <a:r>
              <a:rPr lang="en-GB" b="1"/>
              <a:t>Soluție: </a:t>
            </a:r>
            <a:r>
              <a:rPr lang="en-GB"/>
              <a:t>fișier CSV (data.csv) cu append; la vizualizare se încarcă în TableView.</a:t>
            </a:r>
            <a:endParaRPr lang="ro-RO"/>
          </a:p>
          <a:p>
            <a:endParaRPr lang="en-GB"/>
          </a:p>
          <a:p>
            <a:r>
              <a:rPr lang="en-GB" sz="2400" b="1"/>
              <a:t>3) Separarea responsabilităților UI vs logică.</a:t>
            </a:r>
          </a:p>
          <a:p>
            <a:r>
              <a:rPr lang="en-GB" b="1"/>
              <a:t>Soluție: </a:t>
            </a:r>
            <a:r>
              <a:rPr lang="en-GB"/>
              <a:t>QuizManager gestionează întrebările/validarea, QuizController doar UI; modelul de date este Person/Question.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EC88B7-38DD-F72E-F426-132133B8CE9C}"/>
              </a:ext>
            </a:extLst>
          </p:cNvPr>
          <p:cNvSpPr txBox="1"/>
          <p:nvPr/>
        </p:nvSpPr>
        <p:spPr>
          <a:xfrm>
            <a:off x="6096000" y="994420"/>
            <a:ext cx="576738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>
                <a:solidFill>
                  <a:schemeClr val="bg1">
                    <a:lumMod val="50000"/>
                    <a:lumOff val="50000"/>
                  </a:schemeClr>
                </a:solidFill>
              </a:rPr>
              <a:t>Îmbunătățiri:</a:t>
            </a:r>
          </a:p>
          <a:p>
            <a:pPr algn="ctr"/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A</a:t>
            </a:r>
            <a:r>
              <a:rPr lang="en-US"/>
              <a:t>utentificare pe roluri (</a:t>
            </a:r>
            <a:r>
              <a:rPr lang="ro-RO"/>
              <a:t>cadru didactic, elev, decan etc.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</a:t>
            </a:r>
            <a:r>
              <a:rPr lang="en-US"/>
              <a:t>tocare</a:t>
            </a:r>
            <a:r>
              <a:rPr lang="ro-RO"/>
              <a:t>a informațiilor</a:t>
            </a:r>
            <a:r>
              <a:rPr lang="en-US"/>
              <a:t> în</a:t>
            </a:r>
            <a:r>
              <a:rPr lang="ro-RO"/>
              <a:t>tr-un server web cu</a:t>
            </a:r>
            <a:r>
              <a:rPr lang="en-US"/>
              <a:t> SQLite/MySQL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Abilitatea de a </a:t>
            </a:r>
            <a:r>
              <a:rPr lang="en-US"/>
              <a:t>export</a:t>
            </a:r>
            <a:r>
              <a:rPr lang="ro-RO"/>
              <a:t>a</a:t>
            </a:r>
            <a:r>
              <a:rPr lang="en-US"/>
              <a:t> rapoarte </a:t>
            </a:r>
            <a:r>
              <a:rPr lang="ro-RO"/>
              <a:t>in mai multe formate </a:t>
            </a:r>
            <a:r>
              <a:rPr lang="en-US"/>
              <a:t>(</a:t>
            </a:r>
            <a:r>
              <a:rPr lang="ro-RO"/>
              <a:t>.csv, .pdf, .xlsx, .docx etc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Filtrare imbunătățită a </a:t>
            </a:r>
            <a:r>
              <a:rPr lang="en-US"/>
              <a:t>statistic</a:t>
            </a:r>
            <a:r>
              <a:rPr lang="ro-RO"/>
              <a:t>ii</a:t>
            </a:r>
            <a:r>
              <a:rPr lang="en-US"/>
              <a:t> prezențe</a:t>
            </a:r>
            <a:r>
              <a:rPr lang="ro-RO"/>
              <a:t>lor</a:t>
            </a:r>
            <a:r>
              <a:rPr lang="en-US"/>
              <a:t> per </a:t>
            </a:r>
            <a:r>
              <a:rPr lang="ro-RO"/>
              <a:t>elev, </a:t>
            </a:r>
            <a:r>
              <a:rPr lang="en-US"/>
              <a:t>materie</a:t>
            </a:r>
            <a:r>
              <a:rPr lang="ro-RO"/>
              <a:t>, dată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Quiz</a:t>
            </a:r>
            <a:r>
              <a:rPr lang="en-US"/>
              <a:t> adaptiv (mai multe</a:t>
            </a:r>
            <a:r>
              <a:rPr lang="ro-RO"/>
              <a:t> tipuri de</a:t>
            </a:r>
            <a:r>
              <a:rPr lang="en-US"/>
              <a:t> întrebări, timp limită</a:t>
            </a:r>
            <a:r>
              <a:rPr lang="ro-RO"/>
              <a:t> etc.</a:t>
            </a:r>
            <a:r>
              <a:rPr lang="en-US"/>
              <a:t>)</a:t>
            </a:r>
            <a:endParaRPr lang="ro-RO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Stocarea elevilor pentru ușurarea introducerii prezențelor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o-RO"/>
              <a:t>Sincronizarea prezențelor per elev asupra mai multor calculatoare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69444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335BF-7789-65FD-581E-A094000F1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F1E42-4AF8-81B8-5ED0-4C2B54DBE8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o-RO" sz="4400" noProof="1"/>
              <a:t>Vă mulțumim pentru atenția acordată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551B3-755F-6540-DCFC-DDEBEA902E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o-RO" noProof="1"/>
              <a:t>Prezentat de Felea Dorin-Andrei și Roland Kirch, Anul II, Semestrul I, Informatică</a:t>
            </a:r>
            <a:br>
              <a:rPr lang="ro-RO" noProof="1"/>
            </a:br>
            <a:r>
              <a:rPr lang="ro-RO" noProof="1"/>
              <a:t>Universitatea de Știinte Exacte “Aurel Vlaicu” Arad</a:t>
            </a:r>
            <a:endParaRPr lang="en-GB" noProof="1"/>
          </a:p>
          <a:p>
            <a:endParaRPr lang="en-GB" noProof="1"/>
          </a:p>
          <a:p>
            <a:r>
              <a:rPr lang="en-GB" sz="1500" noProof="1">
                <a:solidFill>
                  <a:schemeClr val="bg1">
                    <a:lumMod val="75000"/>
                    <a:lumOff val="25000"/>
                  </a:schemeClr>
                </a:solidFill>
              </a:rPr>
              <a:t>Cod surs</a:t>
            </a:r>
            <a:r>
              <a:rPr lang="ro-RO" sz="1500" noProof="1">
                <a:solidFill>
                  <a:schemeClr val="bg1">
                    <a:lumMod val="75000"/>
                    <a:lumOff val="25000"/>
                  </a:schemeClr>
                </a:solidFill>
              </a:rPr>
              <a:t>ă: https://github.com/averageMelons/javaPrezentUI</a:t>
            </a:r>
          </a:p>
        </p:txBody>
      </p:sp>
    </p:spTree>
    <p:extLst>
      <p:ext uri="{BB962C8B-B14F-4D97-AF65-F5344CB8AC3E}">
        <p14:creationId xmlns:p14="http://schemas.microsoft.com/office/powerpoint/2010/main" val="7282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</TotalTime>
  <Words>1224</Words>
  <Application>Microsoft Office PowerPoint</Application>
  <PresentationFormat>Widescreen</PresentationFormat>
  <Paragraphs>105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Consolas</vt:lpstr>
      <vt:lpstr>Office Theme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Sistem gestionare prezențe cu validare prin Quiz (tip Captcha)</vt:lpstr>
      <vt:lpstr>Vă mulțumim pentru atenția acordată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Felea Dorin</dc:creator>
  <cp:lastModifiedBy>Felea Dorin</cp:lastModifiedBy>
  <cp:revision>81</cp:revision>
  <dcterms:created xsi:type="dcterms:W3CDTF">2026-01-07T17:48:54Z</dcterms:created>
  <dcterms:modified xsi:type="dcterms:W3CDTF">2026-01-15T18:16:13Z</dcterms:modified>
</cp:coreProperties>
</file>